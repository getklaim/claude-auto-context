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3333333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1111" y="2083333"/>
            <a:ext cx="11111110" cy="97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8EEF9"/>
                </a:solidFill>
                <a:latin typeface="Pretendard SemiBold"/>
              </a:defRPr>
            </a:pPr>
            <a:r>
              <a:t>Auto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111" y="3194444"/>
            <a:ext cx="11111110" cy="48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9B6CF"/>
                </a:solidFill>
                <a:latin typeface="Pretendard"/>
              </a:defRPr>
            </a:pPr>
            <a:r>
              <a:t>Claude Code가 코딩할 때, 프로젝트가 스스로 좋은 컨텍스트를 만들게 하는 플러그인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11" y="6805555"/>
            <a:ext cx="2777777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324A"/>
                </a:solidFill>
                <a:latin typeface="JetBrains Mono"/>
              </a:defRPr>
            </a:pPr>
            <a:r>
              <a:t>Claude Code Plugin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666" y="499999"/>
            <a:ext cx="11999999" cy="69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9"/>
                </a:solidFill>
                <a:latin typeface="Pretendard SemiBold"/>
              </a:defRPr>
            </a:pPr>
            <a:r>
              <a:t>Context Window — AI가 한 번에 볼 수 있는 전부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666" y="1319444"/>
            <a:ext cx="11999999" cy="62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9B6CF"/>
                </a:solidFill>
                <a:latin typeface="JetBrains Mono"/>
              </a:defRPr>
            </a:pPr>
            <a:r>
              <a:t>“n개 토큰은 n²개의 관계를 계산해야 한다. 토큰이 2배면 연산은 4배. 주의력 자체가 희석된다.”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666" y="2291666"/>
            <a:ext cx="3777777" cy="1944444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3333" y="2430555"/>
            <a:ext cx="3444444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3F5E"/>
                </a:solidFill>
                <a:latin typeface="Pretendard SemiBold"/>
              </a:defRPr>
            </a:pPr>
            <a:r>
              <a:t>Tool Output이 83.9%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333" y="2791666"/>
            <a:ext cx="3444444" cy="1305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9B6CF"/>
                </a:solidFill>
                <a:latin typeface="Pretendard"/>
              </a:defRPr>
            </a:pPr>
            <a:r>
              <a:t>에이전트 작업 중 도구 출력이</a:t>
            </a:r>
            <a:br/>
            <a:r>
              <a:t>컨텍스트의 83.9%를 차지.</a:t>
            </a:r>
            <a:br/>
            <a:r>
              <a:t>대부분은 이미 쓸모를 다한 잡음.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7777" y="2291666"/>
            <a:ext cx="3777777" cy="1944444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44444" y="2430555"/>
            <a:ext cx="3444444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3F5E"/>
                </a:solidFill>
                <a:latin typeface="Pretendard SemiBold"/>
              </a:defRPr>
            </a:pPr>
            <a:r>
              <a:t>무관 문서 1개 = 성능 급락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4444" y="2791666"/>
            <a:ext cx="3444444" cy="1305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9B6CF"/>
                </a:solidFill>
                <a:latin typeface="Pretendard"/>
              </a:defRPr>
            </a:pPr>
            <a:r>
              <a:t>관련 없는 문서 하나만 넣어도</a:t>
            </a:r>
            <a:br/>
            <a:r>
              <a:t>step function으로 성능 하락.</a:t>
            </a:r>
            <a:br/>
            <a:r>
              <a:t>모델은 어떤 것도 "건너뛸" 수 없다.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88888" y="2291666"/>
            <a:ext cx="3777777" cy="1944444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5555" y="2430555"/>
            <a:ext cx="3444444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3F5E"/>
                </a:solidFill>
                <a:latin typeface="Pretendard SemiBold"/>
              </a:defRPr>
            </a:pPr>
            <a:r>
              <a:t>32K+ 주장 중 50%만 실제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5555" y="2791666"/>
            <a:ext cx="3444444" cy="1305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9B6CF"/>
                </a:solidFill>
                <a:latin typeface="Pretendard"/>
              </a:defRPr>
            </a:pPr>
            <a:r>
              <a:t>RULER 벤치마크 — 장문 context를</a:t>
            </a:r>
            <a:br/>
            <a:r>
              <a:t>주장하는 모델 중 절반만</a:t>
            </a:r>
            <a:br/>
            <a:r>
              <a:t>실제 해당 길이에서 성능 유지.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666" y="4652777"/>
            <a:ext cx="11999999" cy="83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Pretendard SemiBold"/>
              </a:defRPr>
            </a:pPr>
            <a:r>
              <a:t>Context Window가 크다고 좋은 게 아니다.</a:t>
            </a:r>
            <a:br/>
            <a:r>
              <a:t>올바른 정보만 들어 있을 때 좋은 것이다.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666" y="499999"/>
            <a:ext cx="11999999" cy="62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9"/>
                </a:solidFill>
                <a:latin typeface="Pretendard SemiBold"/>
              </a:defRPr>
            </a:pPr>
            <a:r>
              <a:t>더 넣으면 더 나빠진다 — 모델별 열화 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666" y="1666666"/>
            <a:ext cx="2083333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EF9"/>
                </a:solidFill>
                <a:latin typeface="JetBrains Mono"/>
              </a:defRPr>
            </a:pPr>
            <a:r>
              <a:t>Claude Opus 4.5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666" y="2013888"/>
            <a:ext cx="2777777" cy="34722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44444" y="2013888"/>
            <a:ext cx="2222222" cy="34722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66" y="2430555"/>
            <a:ext cx="2777777" cy="20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열화시작 ~100K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2222" y="2430555"/>
            <a:ext cx="2777777" cy="20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43F5E"/>
                </a:solidFill>
                <a:latin typeface="Pretendard"/>
              </a:defRPr>
            </a:pPr>
            <a:r>
              <a:t>심각 ~180K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666" y="3055555"/>
            <a:ext cx="2083333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EF9"/>
                </a:solidFill>
                <a:latin typeface="JetBrains Mono"/>
              </a:defRPr>
            </a:pPr>
            <a:r>
              <a:t>GPT-5.2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666" y="3402777"/>
            <a:ext cx="1777777" cy="34722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44444" y="3402777"/>
            <a:ext cx="3777777" cy="34722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666" y="3819444"/>
            <a:ext cx="2777777" cy="20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열화시작 ~64K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2222" y="3819444"/>
            <a:ext cx="2777777" cy="20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43F5E"/>
                </a:solidFill>
                <a:latin typeface="Pretendard"/>
              </a:defRPr>
            </a:pPr>
            <a:r>
              <a:t>심각 ~200K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666" y="4444444"/>
            <a:ext cx="2083333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EF9"/>
                </a:solidFill>
                <a:latin typeface="JetBrains Mono"/>
              </a:defRPr>
            </a:pPr>
            <a:r>
              <a:t>Gemini 3 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666" y="4791666"/>
            <a:ext cx="3499999" cy="34722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6666" y="4791666"/>
            <a:ext cx="2055555" cy="34722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666" y="5208333"/>
            <a:ext cx="2777777" cy="20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열화시작 ~500K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2222" y="5208333"/>
            <a:ext cx="2777777" cy="20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43F5E"/>
                </a:solidFill>
                <a:latin typeface="Pretendard"/>
              </a:defRPr>
            </a:pPr>
            <a:r>
              <a:t>심각 ~800K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4444" y="1458333"/>
            <a:ext cx="5722222" cy="1388888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1110" y="1597222"/>
            <a:ext cx="5388888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Pretendard SemiBold"/>
              </a:defRPr>
            </a:pPr>
            <a:r>
              <a:t>Attention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1110" y="1958333"/>
            <a:ext cx="5388888" cy="74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9B6CF"/>
                </a:solidFill>
                <a:latin typeface="Pretendard"/>
              </a:defRPr>
            </a:pPr>
            <a:r>
              <a:t>n² 연산. 토큰이 늘수록 각 토큰에</a:t>
            </a:r>
            <a:br/>
            <a:r>
              <a:t>배분되는 주의력이 희석된다.</a:t>
            </a:r>
            <a:br/>
            <a:r>
              <a:t>비용이 아니라 품질의 문제.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4444" y="2986111"/>
            <a:ext cx="5722222" cy="1388888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1110" y="3124999"/>
            <a:ext cx="5388888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3F5E"/>
                </a:solidFill>
                <a:latin typeface="Pretendard SemiBold"/>
              </a:defRPr>
            </a:pPr>
            <a:r>
              <a:t>Lost-in-Middle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1110" y="3486111"/>
            <a:ext cx="5388888" cy="74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9B6CF"/>
                </a:solidFill>
                <a:latin typeface="Pretendard"/>
              </a:defRPr>
            </a:pPr>
            <a:r>
              <a:t>U자형 어텐션 곡선.</a:t>
            </a:r>
            <a:br/>
            <a:r>
              <a:t>중간 정보의 recall이 10-40% 하락.</a:t>
            </a:r>
            <a:br/>
            <a:r>
              <a:t>시작과 끝만 잘 기억한다.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4444" y="4513888"/>
            <a:ext cx="5722222" cy="1388888"/>
          </a:xfrm>
          <a:prstGeom prst="rect">
            <a:avLst/>
          </a:prstGeom>
          <a:solidFill>
            <a:srgbClr val="121A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1110" y="4652777"/>
            <a:ext cx="5388888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Pretendard SemiBold"/>
              </a:defRPr>
            </a:pPr>
            <a:r>
              <a:t>압축의 교훈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1110" y="5013888"/>
            <a:ext cx="5388888" cy="74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9B6CF"/>
                </a:solidFill>
                <a:latin typeface="Pretendard"/>
              </a:defRPr>
            </a:pPr>
            <a:r>
              <a:t>가장 많이 줄인 Opaque(99.3%)가</a:t>
            </a:r>
            <a:br/>
            <a:r>
              <a:t>가장 낮은 품질(3.35).</a:t>
            </a:r>
            <a:br/>
            <a:r>
              <a:t>올바른 것을 유지하는 게 중요.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666" y="6249999"/>
            <a:ext cx="11999999" cy="69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9B6CF"/>
                </a:solidFill>
                <a:latin typeface="Pretendard"/>
              </a:defRPr>
            </a:pPr>
            <a:r>
              <a:t>Window가 200K라도 200K를 채우면 안 된다. 열화 시작점 이전이 실질적 유효 범위다.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666" y="499999"/>
            <a:ext cx="11999999" cy="62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9"/>
                </a:solidFill>
                <a:latin typeface="Pretendard SemiBold"/>
              </a:defRPr>
            </a:pPr>
            <a:r>
              <a:t>반창고가 아니라 상처를 치료해야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33333" y="1736111"/>
            <a:ext cx="4861110" cy="3472222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9999" y="1874999"/>
            <a:ext cx="4527777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3F5E"/>
                </a:solidFill>
                <a:latin typeface="Pretendard SemiBold"/>
              </a:defRPr>
            </a:pPr>
            <a:r>
              <a:t>나쁜 구조 + 문서 보상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9999" y="2236111"/>
            <a:ext cx="4527777" cy="283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9B6CF"/>
                </a:solidFill>
                <a:latin typeface="Pretendard"/>
              </a:defRPr>
            </a:pPr>
            <a:r>
              <a:t>나쁜 파일 구조</a:t>
            </a:r>
            <a:br/>
            <a:r>
              <a:t>      ↓</a:t>
            </a:r>
            <a:br/>
            <a:r>
              <a:t>Claude가 못 찾음</a:t>
            </a:r>
            <a:br/>
            <a:r>
              <a:t>      ↓</a:t>
            </a:r>
            <a:br/>
            <a:r>
              <a:t>CLAUDE.md에 지도 추가</a:t>
            </a:r>
            <a:br/>
            <a:r>
              <a:t>      ↓</a:t>
            </a:r>
            <a:br/>
            <a:r>
              <a:t>리팩토링 후 지도 미갱신</a:t>
            </a:r>
            <a:br/>
            <a:r>
              <a:t>      ↓</a:t>
            </a:r>
            <a:br/>
            <a:r>
              <a:t>Context Poisoning</a:t>
            </a:r>
            <a:br/>
            <a:r>
              <a:t>      ↓</a:t>
            </a:r>
            <a:br/>
            <a:r>
              <a:t>다시 처음으로 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2222" y="2986111"/>
            <a:ext cx="1388888" cy="97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26324A"/>
                </a:solidFill>
                <a:latin typeface="Pretendard SemiBold"/>
              </a:defRPr>
            </a:pPr>
            <a:r>
              <a:t>VS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8888" y="1736111"/>
            <a:ext cx="4861110" cy="3472222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5555" y="1874999"/>
            <a:ext cx="4527777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Pretendard SemiBold"/>
              </a:defRPr>
            </a:pPr>
            <a:r>
              <a:t>좋은 구조 + 최소 문서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5555" y="2236111"/>
            <a:ext cx="4527777" cy="283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9B6CF"/>
                </a:solidFill>
                <a:latin typeface="Pretendard"/>
              </a:defRPr>
            </a:pPr>
            <a:r>
              <a:t>자명한 파일 구조</a:t>
            </a:r>
            <a:br/>
            <a:r>
              <a:t>      ↓</a:t>
            </a:r>
            <a:br/>
            <a:r>
              <a:t>Claude가 ls로 발견</a:t>
            </a:r>
            <a:br/>
            <a:r>
              <a:t>      ↓</a:t>
            </a:r>
            <a:br/>
            <a:r>
              <a:t>CLAUDE.md에는 암묵지만</a:t>
            </a:r>
            <a:br/>
            <a:r>
              <a:t>      ↓</a:t>
            </a:r>
            <a:br/>
            <a:r>
              <a:t>구조 = 문서 (동기화 불필요)</a:t>
            </a:r>
            <a:br/>
            <a:r>
              <a:t>      ↓</a:t>
            </a:r>
            <a:br/>
            <a:r>
              <a:t>Poisoning 없음</a:t>
            </a:r>
            <a:br/>
            <a:r>
              <a:t>      ↓</a:t>
            </a:r>
            <a:br/>
            <a:r>
              <a:t>안정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666" y="5694444"/>
            <a:ext cx="11999999" cy="83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Pretendard SemiBold"/>
              </a:defRPr>
            </a:pPr>
            <a:r>
              <a:t>플러그인의 역할은 CLAUDE.md에 더 많은 정보를 채워넣는 것이 아니라,</a:t>
            </a:r>
            <a:br/>
            <a:r>
              <a:t>프로젝트 자체를 Claude가 탐색하기 쉬운 구조로 만드는 것이다.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666" y="499999"/>
            <a:ext cx="11999999" cy="62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9"/>
                </a:solidFill>
                <a:latin typeface="Pretendard SemiBold"/>
              </a:defRPr>
            </a:pPr>
            <a:r>
              <a:t>CLAUDE.md · rules/ 에 뭘 넣고 뭘 빼는가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666" y="1180555"/>
            <a:ext cx="11999999" cy="347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9B6CF"/>
                </a:solidFill>
                <a:latin typeface="Pretendard"/>
              </a:defRPr>
            </a:pPr>
            <a:r>
              <a:t>Static Context는 매 세션, 매 턴마다 로드된다. 불필요한 정보는 잡음이 되고, 필수 정보의 부재는 실수가 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666" y="1666666"/>
            <a:ext cx="5972222" cy="388888"/>
          </a:xfrm>
          <a:prstGeom prst="rect">
            <a:avLst/>
          </a:prstGeom>
          <a:solidFill>
            <a:srgbClr val="2A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3333" y="1722222"/>
            <a:ext cx="5638888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3F5E"/>
                </a:solidFill>
                <a:latin typeface="Pretendard SemiBold"/>
              </a:defRPr>
            </a:pPr>
            <a:r>
              <a:t>❌  넣으면 안 되는 정보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666" y="2152777"/>
            <a:ext cx="5972222" cy="111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333" y="2236111"/>
            <a:ext cx="5638888" cy="22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Pretendard SemiBold"/>
              </a:defRPr>
            </a:pPr>
            <a:r>
              <a:t>아키텍처 지도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333" y="2486111"/>
            <a:ext cx="2083333" cy="194444"/>
          </a:xfrm>
          <a:prstGeom prst="rect">
            <a:avLst/>
          </a:prstGeom>
          <a:solidFill>
            <a:srgbClr val="2A151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888" y="2499999"/>
            <a:ext cx="1972222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43F5E"/>
                </a:solidFill>
                <a:latin typeface="JetBrains Mono"/>
              </a:defRPr>
            </a:pPr>
            <a:r>
              <a:t>ls src/ 로 발견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333" y="2736111"/>
            <a:ext cx="5638888" cy="44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파일시스템 구조의 복제본.</a:t>
            </a:r>
            <a:br/>
            <a:r>
              <a:t>리팩토링 후 미갱신 시 Context Poisoning.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666" y="3368055"/>
            <a:ext cx="5972222" cy="111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333" y="3451388"/>
            <a:ext cx="5638888" cy="22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Pretendard SemiBold"/>
              </a:defRPr>
            </a:pPr>
            <a:r>
              <a:t>API 문서 / 타입 정의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3333" y="3701388"/>
            <a:ext cx="2083333" cy="194444"/>
          </a:xfrm>
          <a:prstGeom prst="rect">
            <a:avLst/>
          </a:prstGeom>
          <a:solidFill>
            <a:srgbClr val="2A151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888" y="3715277"/>
            <a:ext cx="1972222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43F5E"/>
                </a:solidFill>
                <a:latin typeface="JetBrains Mono"/>
              </a:defRPr>
            </a:pPr>
            <a:r>
              <a:t>코드 자체가 정의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333" y="3951388"/>
            <a:ext cx="5638888" cy="44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Read로 읽으면 정확한 최신 정보.</a:t>
            </a:r>
            <a:br/>
            <a:r>
              <a:t>복제본은 낡은 정보로 오염.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666" y="4583333"/>
            <a:ext cx="5972222" cy="111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33" y="4666666"/>
            <a:ext cx="5638888" cy="22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Pretendard SemiBold"/>
              </a:defRPr>
            </a:pPr>
            <a:r>
              <a:t>파일별 설명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333" y="4916666"/>
            <a:ext cx="2083333" cy="194444"/>
          </a:xfrm>
          <a:prstGeom prst="rect">
            <a:avLst/>
          </a:prstGeom>
          <a:solidFill>
            <a:srgbClr val="2A151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888" y="4930555"/>
            <a:ext cx="1972222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43F5E"/>
                </a:solidFill>
                <a:latin typeface="JetBrains Mono"/>
              </a:defRPr>
            </a:pPr>
            <a:r>
              <a:t>파일이 스스로 설명해야 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333" y="5166666"/>
            <a:ext cx="5638888" cy="44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파일명이 자명하지 않으면 설명이 아니라</a:t>
            </a:r>
            <a:br/>
            <a:r>
              <a:t>이름을 고쳐야 함. 문서는 반창고.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666" y="5798610"/>
            <a:ext cx="5972222" cy="111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333" y="5881944"/>
            <a:ext cx="5638888" cy="22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Pretendard SemiBold"/>
              </a:defRPr>
            </a:pPr>
            <a:r>
              <a:t>일반적 베스트 프랙티스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333" y="6131944"/>
            <a:ext cx="2083333" cy="194444"/>
          </a:xfrm>
          <a:prstGeom prst="rect">
            <a:avLst/>
          </a:prstGeom>
          <a:solidFill>
            <a:srgbClr val="2A151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888" y="6145833"/>
            <a:ext cx="1972222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43F5E"/>
                </a:solidFill>
                <a:latin typeface="JetBrains Mono"/>
              </a:defRPr>
            </a:pPr>
            <a:r>
              <a:t>Claude가 이미 알고 있음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333" y="6381944"/>
            <a:ext cx="5638888" cy="44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"코드를 리더블하게 쓰세요" 같은 지시는</a:t>
            </a:r>
            <a:br/>
            <a:r>
              <a:t>모델 학습 데이터에 이미 있음. 토큰 낭비.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4444" y="1666666"/>
            <a:ext cx="5972222" cy="388888"/>
          </a:xfrm>
          <a:prstGeom prst="rect">
            <a:avLst/>
          </a:prstGeom>
          <a:solidFill>
            <a:srgbClr val="0E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61110" y="1722222"/>
            <a:ext cx="5638888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Pretendard SemiBold"/>
              </a:defRPr>
            </a:pPr>
            <a:r>
              <a:t>✅  넣어야 하는 정보 — 암묵지 (Implicit Knowledge)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94444" y="2152777"/>
            <a:ext cx="5972222" cy="111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61110" y="2236111"/>
            <a:ext cx="5638888" cy="22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Pretendard SemiBold"/>
              </a:defRPr>
            </a:pPr>
            <a:r>
              <a:t>컨벤션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61110" y="2486111"/>
            <a:ext cx="2361111" cy="194444"/>
          </a:xfrm>
          <a:prstGeom prst="rect">
            <a:avLst/>
          </a:prstGeom>
          <a:solidFill>
            <a:srgbClr val="0E25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6666" y="2499999"/>
            <a:ext cx="2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JetBrains Mono"/>
              </a:defRPr>
            </a:pPr>
            <a:r>
              <a:t>코드에 "왜"는 안 적혀 있음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1110" y="2736111"/>
            <a:ext cx="5638888" cy="44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"에러 처리는 Result 타입, try-catch 아님"</a:t>
            </a:r>
            <a:br/>
            <a:r>
              <a:t>10개 파일을 읽어도 "try-catch 안 쓴다" 는 보이지만</a:t>
            </a:r>
            <a:br/>
            <a:r>
              <a:t>"쓰면 안 된다"는 보이지 않는다.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4444" y="3368055"/>
            <a:ext cx="5972222" cy="111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61110" y="3451388"/>
            <a:ext cx="5638888" cy="22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Pretendard SemiBold"/>
              </a:defRPr>
            </a:pPr>
            <a:r>
              <a:t>금지 규칙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61110" y="3701388"/>
            <a:ext cx="2361111" cy="194444"/>
          </a:xfrm>
          <a:prstGeom prst="rect">
            <a:avLst/>
          </a:prstGeom>
          <a:solidFill>
            <a:srgbClr val="0E25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16666" y="3715277"/>
            <a:ext cx="2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JetBrains Mono"/>
              </a:defRPr>
            </a:pPr>
            <a:r>
              <a:t>코드에 "없는 것"은 발견 불가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1110" y="3951388"/>
            <a:ext cx="5638888" cy="44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"any 타입 금지", "ORM X 사용 금지"</a:t>
            </a:r>
            <a:br/>
            <a:r>
              <a:t>없는 것은 grep으로 찾을 수 없다.</a:t>
            </a:r>
            <a:br/>
            <a:r>
              <a:t>명시적 금지만이 예방할 수 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4444" y="4583333"/>
            <a:ext cx="5972222" cy="111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61110" y="4666666"/>
            <a:ext cx="5638888" cy="22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Pretendard SemiBold"/>
              </a:defRPr>
            </a:pPr>
            <a:r>
              <a:t>비자명한 실행 방법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61110" y="4916666"/>
            <a:ext cx="2361111" cy="194444"/>
          </a:xfrm>
          <a:prstGeom prst="rect">
            <a:avLst/>
          </a:prstGeom>
          <a:solidFill>
            <a:srgbClr val="0E25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16666" y="4930555"/>
            <a:ext cx="2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JetBrains Mono"/>
              </a:defRPr>
            </a:pPr>
            <a:r>
              <a:t>package.json만으로 추측 불가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1110" y="5166666"/>
            <a:ext cx="5638888" cy="44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"bun test --filter=unit"</a:t>
            </a:r>
            <a:br/>
            <a:r>
              <a:t>Claude가 bun test 로 실패 → 재시도 → 또 실패.</a:t>
            </a:r>
            <a:br/>
            <a:r>
              <a:t>한 줄 명시면 매 세션 절약.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94444" y="5798610"/>
            <a:ext cx="5972222" cy="111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61110" y="5881944"/>
            <a:ext cx="5638888" cy="22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Pretendard SemiBold"/>
              </a:defRPr>
            </a:pPr>
            <a:r>
              <a:t>비자명한 관계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61110" y="6131944"/>
            <a:ext cx="2361111" cy="194444"/>
          </a:xfrm>
          <a:prstGeom prst="rect">
            <a:avLst/>
          </a:prstGeom>
          <a:solidFill>
            <a:srgbClr val="0E25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16666" y="6145833"/>
            <a:ext cx="2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JetBrains Mono"/>
              </a:defRPr>
            </a:pPr>
            <a:r>
              <a:t>import 그래프로 안 보이는 의존성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61110" y="6381944"/>
            <a:ext cx="5638888" cy="44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"Service A는 반드시 Service B 초기화 후 시작"</a:t>
            </a:r>
            <a:br/>
            <a:r>
              <a:t>런타임 순서, 환경변수 의존 등</a:t>
            </a:r>
            <a:br/>
            <a:r>
              <a:t>코드 구조에 드러나지 않는 제약.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6666" y="7013888"/>
            <a:ext cx="11999999" cy="347222"/>
          </a:xfrm>
          <a:prstGeom prst="rect">
            <a:avLst/>
          </a:prstGeom>
          <a:solidFill>
            <a:srgbClr val="0F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333" y="7048610"/>
            <a:ext cx="11666666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  <a:latin typeface="JetBrains Mono"/>
              </a:defRPr>
            </a:pPr>
            <a:r>
              <a:t>판별 기준: 발견 불가능 + 매 세션 필요 + 안정적 + 고신호 — 4가지 모두 충족하면 암묵지, 하나라도 빠지면 제외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666" y="499999"/>
            <a:ext cx="11999999" cy="62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9"/>
                </a:solidFill>
                <a:latin typeface="Pretendard SemiBold"/>
              </a:defRPr>
            </a:pPr>
            <a:r>
              <a:t>Auto Context — 자동 컨텍스트 최적화 루프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4999" y="1388888"/>
            <a:ext cx="2083333" cy="972222"/>
          </a:xfrm>
          <a:prstGeom prst="rect">
            <a:avLst/>
          </a:prstGeom>
          <a:solidFill>
            <a:srgbClr val="121A2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94444" y="1493055"/>
            <a:ext cx="1944444" cy="41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Pretendard SemiBold"/>
              </a:defRPr>
            </a:pPr>
            <a: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4444" y="1944444"/>
            <a:ext cx="1944444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9B6CF"/>
                </a:solidFill>
                <a:latin typeface="Pretendard"/>
              </a:defRPr>
            </a:pPr>
            <a:r>
              <a:t>수집</a:t>
            </a:r>
          </a:p>
        </p:txBody>
      </p:sp>
      <p:sp>
        <p:nvSpPr>
          <p:cNvPr id="7" name="Rectangle 6"/>
          <p:cNvSpPr/>
          <p:nvPr/>
        </p:nvSpPr>
        <p:spPr>
          <a:xfrm>
            <a:off x="7986110" y="2916666"/>
            <a:ext cx="2083333" cy="972222"/>
          </a:xfrm>
          <a:prstGeom prst="rect">
            <a:avLst/>
          </a:prstGeom>
          <a:solidFill>
            <a:srgbClr val="121A2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55555" y="3020833"/>
            <a:ext cx="1944444" cy="41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Pretendard SemiBold"/>
              </a:defRPr>
            </a:pPr>
            <a:r>
              <a:t>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55555" y="3472222"/>
            <a:ext cx="1944444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9B6CF"/>
                </a:solidFill>
                <a:latin typeface="Pretendard"/>
              </a:defRPr>
            </a:pPr>
            <a:r>
              <a:t>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4999" y="4444444"/>
            <a:ext cx="2083333" cy="972222"/>
          </a:xfrm>
          <a:prstGeom prst="rect">
            <a:avLst/>
          </a:prstGeom>
          <a:solidFill>
            <a:srgbClr val="121A2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4444" y="4548610"/>
            <a:ext cx="1944444" cy="41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Pretendard SemiBold"/>
              </a:defRPr>
            </a:pPr>
            <a: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4444" y="4999999"/>
            <a:ext cx="1944444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9B6CF"/>
                </a:solidFill>
                <a:latin typeface="Pretendard"/>
              </a:defRPr>
            </a:pPr>
            <a:r>
              <a:t>적용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3888" y="2916666"/>
            <a:ext cx="2083333" cy="972222"/>
          </a:xfrm>
          <a:prstGeom prst="rect">
            <a:avLst/>
          </a:prstGeom>
          <a:solidFill>
            <a:srgbClr val="121A2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3333" y="3020833"/>
            <a:ext cx="1944444" cy="41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Pretendard SemiBold"/>
              </a:defRPr>
            </a:pPr>
            <a: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3333" y="3472222"/>
            <a:ext cx="1944444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9B6CF"/>
                </a:solidFill>
                <a:latin typeface="Pretendard"/>
              </a:defRPr>
            </a:pPr>
            <a:r>
              <a:t>측정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1666" y="2152777"/>
            <a:ext cx="694444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6324A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1666" y="4097222"/>
            <a:ext cx="694444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6324A"/>
                </a:solidFill>
                <a:latin typeface="Pretendard"/>
              </a:defRPr>
            </a:pPr>
            <a:r>
              <a:t>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1110" y="1805555"/>
            <a:ext cx="694444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6324A"/>
                </a:solidFill>
                <a:latin typeface="Pretendard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1110" y="4722222"/>
            <a:ext cx="694444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6324A"/>
                </a:solidFill>
                <a:latin typeface="Pretendard"/>
              </a:defRPr>
            </a:pPr>
            <a:r>
              <a:t>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666" y="5833333"/>
            <a:ext cx="2916666" cy="111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777" y="5902777"/>
            <a:ext cx="2694444" cy="20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Pretendard SemiBold"/>
              </a:defRPr>
            </a:pPr>
            <a:r>
              <a:t>Observe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777" y="6145833"/>
            <a:ext cx="2694444" cy="69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Hooks가 매 도구 사용마다</a:t>
            </a:r>
            <a:br/>
            <a:r>
              <a:t>RAW 데이터를 수집</a:t>
            </a:r>
            <a:br/>
            <a:r>
              <a:t>→ SQLite에 저장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1666" y="5833333"/>
            <a:ext cx="2916666" cy="111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2777" y="5902777"/>
            <a:ext cx="2694444" cy="20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Pretendard SemiBold"/>
              </a:defRPr>
            </a:pPr>
            <a: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2777" y="6145833"/>
            <a:ext cx="2694444" cy="69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Worker가 polling하며</a:t>
            </a:r>
            <a:br/>
            <a:r>
              <a:t>패턴 분석, 대화 요약</a:t>
            </a:r>
            <a:br/>
            <a:r>
              <a:t>→ 5차원 점수 산출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16666" y="5833333"/>
            <a:ext cx="2916666" cy="111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7777" y="5902777"/>
            <a:ext cx="2694444" cy="20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Pretendard SemiBold"/>
              </a:defRPr>
            </a:pPr>
            <a: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7777" y="6145833"/>
            <a:ext cx="2694444" cy="69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암묵지 → rules/ 자동 생성</a:t>
            </a:r>
            <a:br/>
            <a:r>
              <a:t>구조 문제 → offers/ 제안</a:t>
            </a:r>
            <a:br/>
            <a:r>
              <a:t>CLAUDE.md 최소 갱신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41666" y="5833333"/>
            <a:ext cx="2916666" cy="111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52777" y="5902777"/>
            <a:ext cx="2694444" cy="20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Pretendard SemiBold"/>
              </a:defRPr>
            </a:pPr>
            <a:r>
              <a:t>Measure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52777" y="6145833"/>
            <a:ext cx="2694444" cy="69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Navigability, Readability</a:t>
            </a:r>
            <a:br/>
            <a:r>
              <a:t>Predictability, Self-doc</a:t>
            </a:r>
            <a:br/>
            <a:r>
              <a:t>Isolation — 5차원 추적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666" y="499999"/>
            <a:ext cx="11999999" cy="62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9"/>
                </a:solidFill>
                <a:latin typeface="Pretendard SemiBold"/>
              </a:defRPr>
            </a:pPr>
            <a:r>
              <a:t>세션에서 배운다 — 4가지 신호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666" y="1527777"/>
            <a:ext cx="5833333" cy="1180555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3333" y="1666666"/>
            <a:ext cx="5499999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Pretendard SemiBold"/>
              </a:defRPr>
            </a:pPr>
            <a:r>
              <a:t>검색 신호 (Glob · Grep)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333" y="2027777"/>
            <a:ext cx="5499999" cy="54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9B6CF"/>
                </a:solidFill>
                <a:latin typeface="Pretendard"/>
              </a:defRPr>
            </a:pPr>
            <a:r>
              <a:t>목표 파일까지 평균 검색 횟수 → Navigability</a:t>
            </a:r>
            <a:br/>
            <a:r>
              <a:t>예: "auth 관련 파일을 찾는 데 평균 4.2회 시도"</a:t>
            </a:r>
          </a:p>
        </p:txBody>
      </p:sp>
      <p:sp>
        <p:nvSpPr>
          <p:cNvPr id="7" name="Rectangle 6"/>
          <p:cNvSpPr/>
          <p:nvPr/>
        </p:nvSpPr>
        <p:spPr>
          <a:xfrm>
            <a:off x="6833333" y="1527777"/>
            <a:ext cx="5833333" cy="1180555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9999" y="1666666"/>
            <a:ext cx="5499999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Pretendard SemiBold"/>
              </a:defRPr>
            </a:pPr>
            <a:r>
              <a:t>읽기 신호 (Read)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9999" y="2027777"/>
            <a:ext cx="5499999" cy="54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9B6CF"/>
                </a:solidFill>
                <a:latin typeface="Pretendard"/>
              </a:defRPr>
            </a:pPr>
            <a:r>
              <a:t>Read 줄 수 vs Edit 줄 수 비율 → Readability</a:t>
            </a:r>
            <a:br/>
            <a:r>
              <a:t>예: "utils.ts 245줄 Read, 10줄 Edit → 신호 4%"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666" y="2986111"/>
            <a:ext cx="5833333" cy="1180555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33" y="3124999"/>
            <a:ext cx="5499999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Pretendard SemiBold"/>
              </a:defRPr>
            </a:pPr>
            <a:r>
              <a:t>수정 신호 (Edit)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33" y="3486111"/>
            <a:ext cx="5499999" cy="54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9B6CF"/>
                </a:solidFill>
                <a:latin typeface="Pretendard"/>
              </a:defRPr>
            </a:pPr>
            <a:r>
              <a:t>반복되는 변환 패턴 → 미명문화된 컨벤션</a:t>
            </a:r>
            <a:br/>
            <a:r>
              <a:t>예: "try-catch → Result 변환 5세션 연속"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33333" y="2986111"/>
            <a:ext cx="5833333" cy="1180555"/>
          </a:xfrm>
          <a:prstGeom prst="rect">
            <a:avLst/>
          </a:prstGeom>
          <a:solidFill>
            <a:srgbClr val="121A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9999" y="3124999"/>
            <a:ext cx="5499999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Pretendard SemiBold"/>
              </a:defRPr>
            </a:pPr>
            <a:r>
              <a:t>실행 신호 (Bash)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999" y="3486111"/>
            <a:ext cx="5499999" cy="54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9B6CF"/>
                </a:solidFill>
                <a:latin typeface="Pretendard"/>
              </a:defRPr>
            </a:pPr>
            <a:r>
              <a:t>실패 후 성공한 명령어 패턴 → 비자명한 실행 방법</a:t>
            </a:r>
            <a:br/>
            <a:r>
              <a:t>예: "bun test 실패 → bun test --filter 성공"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666" y="4513888"/>
            <a:ext cx="11999999" cy="1249999"/>
          </a:xfrm>
          <a:prstGeom prst="rect">
            <a:avLst/>
          </a:prstGeom>
          <a:solidFill>
            <a:srgbClr val="0F1727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222" y="4652777"/>
            <a:ext cx="11388888" cy="97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9B6CF"/>
                </a:solidFill>
                <a:latin typeface="Pretendard"/>
              </a:defRPr>
            </a:pPr>
            <a:r>
              <a:t>Hook은 바보 수집기 — 받아서 던지기만.</a:t>
            </a:r>
            <a:br/>
            <a:r>
              <a:t>모든 분석은 Background Worker에서.</a:t>
            </a:r>
            <a:br/>
            <a:r>
              <a:t>Main Session에 레이턴시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666" y="499999"/>
            <a:ext cx="11999999" cy="62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9"/>
                </a:solidFill>
                <a:latin typeface="Pretendard SemiBold"/>
              </a:defRPr>
            </a:pPr>
            <a:r>
              <a:t>자동화의 경계 — 무엇이 자동이고 무엇이 승인인가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666" y="1319444"/>
            <a:ext cx="11999999" cy="555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9B6CF"/>
                </a:solidFill>
                <a:latin typeface="Pretendard"/>
              </a:defRPr>
            </a:pPr>
            <a:r>
              <a:t>Worker는 프로젝트를 관찰하고 학습하지만, 구조 변경은 사용자 승인 없이 하지 않는다.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49999" y="2083333"/>
          <a:ext cx="10833332" cy="1944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333"/>
                <a:gridCol w="1083333"/>
                <a:gridCol w="1083333"/>
                <a:gridCol w="6283333"/>
              </a:tblGrid>
              <a:tr h="3888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EF9"/>
                          </a:solidFill>
                          <a:latin typeface="Pretendard SemiBold"/>
                        </a:defRPr>
                      </a:pPr>
                      <a:r>
                        <a:t>산출물</a:t>
                      </a:r>
                    </a:p>
                  </a:txBody>
                  <a:tcPr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EF9"/>
                          </a:solidFill>
                          <a:latin typeface="Pretendard SemiBold"/>
                        </a:defRPr>
                      </a:pPr>
                      <a:r>
                        <a:t>자동</a:t>
                      </a:r>
                    </a:p>
                  </a:txBody>
                  <a:tcPr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EF9"/>
                          </a:solidFill>
                          <a:latin typeface="Pretendard SemiBold"/>
                        </a:defRPr>
                      </a:pPr>
                      <a:r>
                        <a:t>승인</a:t>
                      </a:r>
                    </a:p>
                  </a:txBody>
                  <a:tcPr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EF9"/>
                          </a:solidFill>
                          <a:latin typeface="Pretendard SemiBold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72238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.claude/rules/ 생성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반복 패턴에서 암묵지 추출. 코드 변경 아님.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CLAUDE.md 갱신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비자명한 실행 방법 추가. 코드 변경 아님.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offers/ 구조 제안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Worker가 제안 파일 생성. 아직 아무것도 안 바뀌.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</a:tr>
              <a:tr h="3888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구조 리팩토링 실행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/cac-apply로 사용자가 선택한 offer만 실행.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6666" y="5972222"/>
            <a:ext cx="11999999" cy="69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Pretendard SemiBold"/>
              </a:defRPr>
            </a:pPr>
            <a:r>
              <a:t>코드가 바뀌는 건 오직 /cac-apply를 실행할 때뿐. 그 외에는 관찰하고 제안할 뿐이다.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666" y="499999"/>
            <a:ext cx="11999999" cy="62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9"/>
                </a:solidFill>
                <a:latin typeface="Pretendard SemiBold"/>
              </a:defRPr>
            </a:pPr>
            <a:r>
              <a:t>Two-Speed 아키텍처 — 빠른 수집, 느린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666" y="1527777"/>
            <a:ext cx="5694444" cy="4305555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3333" y="1631944"/>
            <a:ext cx="5416666" cy="31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Pretendard SemiBold"/>
              </a:defRPr>
            </a:pPr>
            <a:r>
              <a:t>Fast Lane —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333" y="2013888"/>
            <a:ext cx="5416666" cy="3680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9B6CF"/>
                </a:solidFill>
                <a:latin typeface="JetBrains Mono"/>
              </a:defRPr>
            </a:pPr>
            <a:r>
              <a:t>PostToolUse 이벤트 발생</a:t>
            </a:r>
            <a:br/>
            <a:r>
              <a:t>      ↓</a:t>
            </a:r>
            <a:br/>
            <a:r>
              <a:t>Hook (셸 스크립트)</a:t>
            </a:r>
            <a:br/>
            <a:r>
              <a:t>      바보. pipe만.</a:t>
            </a:r>
            <a:br/>
            <a:r>
              <a:t>      ↓</a:t>
            </a:r>
            <a:br/>
            <a:r>
              <a:t>collector.mjs</a:t>
            </a:r>
            <a:br/>
            <a:r>
              <a:t>      JSON 파싱</a:t>
            </a:r>
            <a:br/>
            <a:r>
              <a:t>      parameterized INSERT</a:t>
            </a:r>
            <a:br/>
            <a:r>
              <a:t>      ↓</a:t>
            </a:r>
            <a:br/>
            <a:r>
              <a:t>SQLite raw_events</a:t>
            </a:r>
            <a:br/>
            <a:r>
              <a:t>      processed = 0</a:t>
            </a:r>
            <a:br/>
            <a:br/>
            <a:r>
              <a:t>생명주기: fire-and-forget</a:t>
            </a:r>
            <a:br/>
            <a:r>
              <a:t>레이턴시: ms 단위</a:t>
            </a:r>
            <a:br/>
            <a:r>
              <a:t>Main Session 영향: 없음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7777" y="1805555"/>
            <a:ext cx="277777" cy="3749999"/>
          </a:xfrm>
          <a:prstGeom prst="rect">
            <a:avLst/>
          </a:prstGeom>
          <a:solidFill>
            <a:srgbClr val="2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8888" y="3402777"/>
            <a:ext cx="555555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EF9"/>
                </a:solidFill>
                <a:latin typeface="JetBrains Mono"/>
              </a:defRPr>
            </a:pPr>
            <a:r>
              <a:t>SQLite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972222" y="1527777"/>
            <a:ext cx="5694444" cy="4305555"/>
          </a:xfrm>
          <a:prstGeom prst="rect">
            <a:avLst/>
          </a:prstGeom>
          <a:solidFill>
            <a:srgbClr val="121A2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8888" y="1631944"/>
            <a:ext cx="5416666" cy="31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D3EE"/>
                </a:solidFill>
                <a:latin typeface="Pretendard SemiBold"/>
              </a:defRPr>
            </a:pPr>
            <a:r>
              <a:t>Slow Lane —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8888" y="2013888"/>
            <a:ext cx="5416666" cy="3680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9B6CF"/>
                </a:solidFill>
                <a:latin typeface="JetBrains Mono"/>
              </a:defRPr>
            </a:pPr>
            <a:r>
              <a:t>Worker (polling loop)</a:t>
            </a:r>
            <a:br/>
            <a:r>
              <a:t>      ↓</a:t>
            </a:r>
            <a:br/>
            <a:r>
              <a:t>processed=0 조회</a:t>
            </a:r>
            <a:br/>
            <a:r>
              <a:t>      ↓</a:t>
            </a:r>
            <a:br/>
            <a:r>
              <a:t>Tool Events 분석</a:t>
            </a:r>
            <a:br/>
            <a:r>
              <a:t>      → 5차원 점수 산출</a:t>
            </a:r>
            <a:br/>
            <a:r>
              <a:t>      ↓</a:t>
            </a:r>
            <a:br/>
            <a:r>
              <a:t>대화 요약 (Stop RAW)</a:t>
            </a:r>
            <a:br/>
            <a:r>
              <a:t>      → sessions 테이블</a:t>
            </a:r>
            <a:br/>
            <a:r>
              <a:t>      ↓</a:t>
            </a:r>
            <a:br/>
            <a:r>
              <a:t>누적 분석 (N세션)</a:t>
            </a:r>
            <a:br/>
            <a:r>
              <a:t>      → rules/ 생성</a:t>
            </a:r>
            <a:br/>
            <a:r>
              <a:t>      → offers/ 생성</a:t>
            </a:r>
            <a:br/>
            <a:br/>
            <a:r>
              <a:t>생명주기: 상주 프로세스</a:t>
            </a:r>
            <a:br/>
            <a:r>
              <a:t>Main Session과: 완전 독립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666" y="6111110"/>
            <a:ext cx="11999999" cy="694444"/>
          </a:xfrm>
          <a:prstGeom prst="rect">
            <a:avLst/>
          </a:prstGeom>
          <a:solidFill>
            <a:srgbClr val="0F1727"/>
          </a:solidFill>
          <a:ln w="12700"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333" y="6215277"/>
            <a:ext cx="11666666" cy="48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9B6CF"/>
                </a:solidFill>
                <a:latin typeface="JetBrains Mono"/>
              </a:defRPr>
            </a:pPr>
            <a:r>
              <a:t>Glob → Read → Edit → Read → Bash → Read → Edit → Stop</a:t>
            </a:r>
            <a:br/>
            <a:r>
              <a:t>전부 RAW로 SQLite에. 가공 없음. 판단 없음. Worker가 알아서.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666" y="499999"/>
            <a:ext cx="11999999" cy="62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9"/>
                </a:solidFill>
                <a:latin typeface="Pretendard SemiBold"/>
              </a:defRPr>
            </a:pPr>
            <a: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666" y="1249999"/>
            <a:ext cx="11999999" cy="48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9B6CF"/>
                </a:solidFill>
                <a:latin typeface="Pretendard"/>
              </a:defRPr>
            </a:pPr>
            <a:r>
              <a:t>최소 의존성. Claude Code의 Node.js 환경만으로 동작한다.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6666" y="1944444"/>
          <a:ext cx="11999997" cy="3111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999"/>
                <a:gridCol w="2999999"/>
                <a:gridCol w="7199999"/>
              </a:tblGrid>
              <a:tr h="3888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EF9"/>
                          </a:solidFill>
                          <a:latin typeface="Pretendard SemiBold"/>
                        </a:defRPr>
                      </a:pPr>
                      <a:r>
                        <a:t>컴포넌트</a:t>
                      </a:r>
                    </a:p>
                  </a:txBody>
                  <a:tcPr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EF9"/>
                          </a:solidFill>
                          <a:latin typeface="Pretendard SemiBold"/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EF9"/>
                          </a:solidFill>
                          <a:latin typeface="Pretendard SemiBold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72238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Hook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Bash (셸 스크립트)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PostToolUse, Stop 이벤트를 받아 collector에 pipe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Collector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Node.js (collector.mjs)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JSON 파싱 + SQLite parameterized INSERT. 이벤트당 1회 실행 후 종료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SQLite (better-sqlite3)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raw_events · sessions · insights 3개 테이블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Worker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Claude Code (별도 프로세스)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SQLite polling → RAW 분석 → 요약 · 패턴 추출 · 5차원 점수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.claude/rules/ (Markdown)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glob 스코핑. 파일 수정 시 자동 로드. Worker가 생성/갱신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.claude-auto-context/offers/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구조 변경 제안. /cac-apply 스킬로 승인 후 실행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889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Notification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UserPromptSubmit Hook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pending offer 확인 → 알림 주입. offer 없으면 패스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666" y="499999"/>
            <a:ext cx="11999999" cy="62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9"/>
                </a:solidFill>
                <a:latin typeface="Pretendard SemiBold"/>
              </a:defRPr>
            </a:pPr>
            <a:r>
              <a:t>사용자 경험 — 5단계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4166" y="1458333"/>
            <a:ext cx="347222" cy="34722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4166" y="1493055"/>
            <a:ext cx="347222" cy="31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F1C"/>
                </a:solidFill>
                <a:latin typeface="JetBrains Mon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833" y="1493055"/>
            <a:ext cx="208333" cy="31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6324A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666" y="1944444"/>
            <a:ext cx="2222222" cy="236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777" y="2048611"/>
            <a:ext cx="1999999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Pretendard SemiBold"/>
              </a:defRPr>
            </a:pPr>
            <a:r>
              <a:t>평소처럼 코딩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777" y="2430555"/>
            <a:ext cx="1999999" cy="173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Claude Code로 일상적 작업.</a:t>
            </a:r>
            <a:br/>
            <a:r>
              <a:t>플러그인은 보이지</a:t>
            </a:r>
            <a:br/>
            <a:r>
              <a:t>않게 동작.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48611" y="1458333"/>
            <a:ext cx="347222" cy="34722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8611" y="1493055"/>
            <a:ext cx="347222" cy="31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F1C"/>
                </a:solidFill>
                <a:latin typeface="JetBrains Mono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277" y="1493055"/>
            <a:ext cx="208333" cy="31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6324A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1111" y="1944444"/>
            <a:ext cx="2222222" cy="236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2222" y="2048611"/>
            <a:ext cx="1999999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Pretendard SemiBold"/>
              </a:defRPr>
            </a:pPr>
            <a:r>
              <a:t>자동 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2222" y="2430555"/>
            <a:ext cx="1999999" cy="173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매 도구 사용마다</a:t>
            </a:r>
            <a:br/>
            <a:r>
              <a:t>Hook → collector</a:t>
            </a:r>
            <a:br/>
            <a:r>
              <a:t>→ SQLite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3055" y="1458333"/>
            <a:ext cx="347222" cy="34722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3055" y="1493055"/>
            <a:ext cx="347222" cy="31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F1C"/>
                </a:solidFill>
                <a:latin typeface="JetBrains Mono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4722" y="1493055"/>
            <a:ext cx="208333" cy="31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6324A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55555" y="1944444"/>
            <a:ext cx="2222222" cy="236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6666" y="2048611"/>
            <a:ext cx="1999999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  <a:latin typeface="Pretendard SemiBold"/>
              </a:defRPr>
            </a:pPr>
            <a:r>
              <a:t>백그라운드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6666" y="2430555"/>
            <a:ext cx="1999999" cy="173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Worker가 패턴 감지.</a:t>
            </a:r>
            <a:br/>
            <a:r>
              <a:t>5차원 점수 산출.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37499" y="1458333"/>
            <a:ext cx="347222" cy="34722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7499" y="1493055"/>
            <a:ext cx="347222" cy="31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F1C"/>
                </a:solidFill>
                <a:latin typeface="JetBrains Mono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9166" y="1493055"/>
            <a:ext cx="208333" cy="31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6324A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9999" y="1944444"/>
            <a:ext cx="2222222" cy="236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1110" y="2048611"/>
            <a:ext cx="1999999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Pretendard SemiBold"/>
              </a:defRPr>
            </a:pPr>
            <a:r>
              <a:t>알림 수신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1110" y="2430555"/>
            <a:ext cx="1999999" cy="173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다음 세션에서</a:t>
            </a:r>
            <a:br/>
            <a:r>
              <a:t>"N건의 Offer 대기 중"</a:t>
            </a:r>
            <a:br/>
            <a:r>
              <a:t>알림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381944" y="1458333"/>
            <a:ext cx="347222" cy="34722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81944" y="1493055"/>
            <a:ext cx="347222" cy="31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F1C"/>
                </a:solidFill>
                <a:latin typeface="JetBrains Mono"/>
              </a:defRPr>
            </a:pPr>
            <a: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44444" y="1944444"/>
            <a:ext cx="2222222" cy="2361111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55555" y="2048611"/>
            <a:ext cx="1999999" cy="2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Pretendard SemiBold"/>
              </a:defRPr>
            </a:pPr>
            <a:r>
              <a:t>/cac-apply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55555" y="2430555"/>
            <a:ext cx="1999999" cy="173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9B6CF"/>
                </a:solidFill>
                <a:latin typeface="Pretendard"/>
              </a:defRPr>
            </a:pPr>
            <a:r>
              <a:t>offer 선택 → Claude가</a:t>
            </a:r>
            <a:br/>
            <a:r>
              <a:t>자동 리팩토링</a:t>
            </a:r>
            <a:br/>
            <a:r>
              <a:t>+ 테스트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6666" y="4861110"/>
            <a:ext cx="11999999" cy="1736111"/>
          </a:xfrm>
          <a:prstGeom prst="rect">
            <a:avLst/>
          </a:prstGeom>
          <a:solidFill>
            <a:srgbClr val="0F17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222" y="4999999"/>
            <a:ext cx="11388888" cy="145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9E0B"/>
                </a:solidFill>
                <a:latin typeface="JetBrains Mono"/>
              </a:defRPr>
            </a:pPr>
            <a:r>
              <a:t>─────────────────────────────────────────────────</a:t>
            </a:r>
            <a:br/>
            <a:r>
              <a:t>🔔 Auto Context — 2건의 Offer 대기 중</a:t>
            </a:r>
            <a:br/>
            <a:r>
              <a:t>─────────────────────────────────────────────────</a:t>
            </a:r>
            <a:br/>
            <a:r>
              <a:t>1. src/utils.ts 분할 (Readability +0.5)</a:t>
            </a:r>
            <a:br/>
            <a:r>
              <a:t>2. routes/ 패턴 통일 (Predictability +0.8)</a:t>
            </a:r>
            <a:br/>
            <a:r>
              <a:t>💡 /cac-apply 로 적용 · /cac-status 로 상세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666" y="499999"/>
            <a:ext cx="11999999" cy="62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9"/>
                </a:solidFill>
                <a:latin typeface="Pretendard SemiBold"/>
              </a:defRPr>
            </a:pPr>
            <a:r>
              <a:t>Auto Context가 바꾸는 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6666" y="1527777"/>
          <a:ext cx="11999997" cy="2722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999"/>
                <a:gridCol w="5159999"/>
                <a:gridCol w="5159999"/>
              </a:tblGrid>
              <a:tr h="3888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EF9"/>
                          </a:solidFill>
                          <a:latin typeface="Pretendard SemiBold"/>
                        </a:defRPr>
                      </a:pPr>
                      <a:r>
                        <a:t>차원</a:t>
                      </a:r>
                    </a:p>
                  </a:txBody>
                  <a:tcPr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EF9"/>
                          </a:solidFill>
                          <a:latin typeface="Pretendard SemiBold"/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EF9"/>
                          </a:solidFill>
                          <a:latin typeface="Pretendard SemiBold"/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72238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CLAUDE.md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43F5E"/>
                          </a:solidFill>
                          <a:latin typeface="Pretendard"/>
                        </a:defRPr>
                      </a:pPr>
                      <a:r>
                        <a:t>아키텍처 지도, API 문서, 파일 설명… 수백 줄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Pretendard"/>
                        </a:defRPr>
                      </a:pPr>
                      <a:r>
                        <a:t>암묵지만. 컨벤션, 금지 규칙, 비자명한 관계. 최소한.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컨벤션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43F5E"/>
                          </a:solidFill>
                          <a:latin typeface="Pretendard"/>
                        </a:defRPr>
                      </a:pPr>
                      <a:r>
                        <a:t>사람이 기억에 의존. 세션마다 불일치.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Pretendard"/>
                        </a:defRPr>
                      </a:pPr>
                      <a:r>
                        <a:t>Worker가 자동 추출 → rules/ 명문화.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파일 구조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43F5E"/>
                          </a:solidFill>
                          <a:latin typeface="Pretendard"/>
                        </a:defRPr>
                      </a:pPr>
                      <a:r>
                        <a:t>utils.ts 800줄. Claude가 매번 전부 읽음.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Pretendard"/>
                        </a:defRPr>
                      </a:pPr>
                      <a:r>
                        <a:t>offer로 분할 제안 → /cac-apply로 리팩토링.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탐색 효율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43F5E"/>
                          </a:solidFill>
                          <a:latin typeface="Pretendard"/>
                        </a:defRPr>
                      </a:pPr>
                      <a:r>
                        <a:t>목표 파일까지 평균 4+ 검색.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Pretendard"/>
                        </a:defRPr>
                      </a:pPr>
                      <a:r>
                        <a:t>구조 개선 후 1-2회로 수렴.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88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학습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43F5E"/>
                          </a:solidFill>
                          <a:latin typeface="Pretendard"/>
                        </a:defRPr>
                      </a:pPr>
                      <a:r>
                        <a:t>없음. 매 세션이 첫 날.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Pretendard"/>
                        </a:defRPr>
                      </a:pPr>
                      <a:r>
                        <a:t>SQLite에 세션 축적. Worker가 누적 학습.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</a:tr>
              <a:tr h="38889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A9B6CF"/>
                          </a:solidFill>
                          <a:latin typeface="Pretendard"/>
                        </a:defRPr>
                      </a:pPr>
                      <a:r>
                        <a:t>안전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43F5E"/>
                          </a:solidFill>
                          <a:latin typeface="Pretendard"/>
                        </a:defRPr>
                      </a:pPr>
                      <a:r>
                        <a:t>자동화 없음. 전부 수동.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Pretendard"/>
                        </a:defRPr>
                      </a:pPr>
                      <a:r>
                        <a:t>관찰은 자동, 구조 변경은 승인 후만.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6666" y="6111110"/>
            <a:ext cx="11999999" cy="83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EEF9"/>
                </a:solidFill>
                <a:latin typeface="Pretendard SemiBold"/>
              </a:defRPr>
            </a:pPr>
            <a:r>
              <a:t>프로젝트에 더 많은 문서를 넣는 것이 아니라,</a:t>
            </a:r>
            <a:br/>
            <a:r>
              <a:t>프로젝트 자체가 문서가 되게 만드는 것. Auto Context.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333" cy="7499999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666" y="499999"/>
            <a:ext cx="11999999" cy="62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E8EEF9"/>
                </a:solidFill>
                <a:latin typeface="Pretendard SemiBold"/>
              </a:defRPr>
            </a:pPr>
            <a:r>
              <a:t>auto-context → claude-auto-context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666" y="1180555"/>
            <a:ext cx="11999999" cy="347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9B6CF"/>
                </a:solidFill>
                <a:latin typeface="Pretendard"/>
              </a:defRPr>
            </a:pPr>
            <a:r>
              <a:t>같은 문제를 풀지만, 설계 철학이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666" y="1666666"/>
            <a:ext cx="5972222" cy="361111"/>
          </a:xfrm>
          <a:prstGeom prst="rect">
            <a:avLst/>
          </a:prstGeom>
          <a:solidFill>
            <a:srgbClr val="2A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3333" y="1722222"/>
            <a:ext cx="2777777" cy="24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3F5E"/>
                </a:solidFill>
                <a:latin typeface="JetBrains Mono"/>
              </a:defRPr>
            </a:pPr>
            <a:r>
              <a:t>auto-context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999" y="1736111"/>
            <a:ext cx="2638888" cy="24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43F5E"/>
                </a:solidFill>
                <a:latin typeface="JetBrains Mono"/>
              </a:defRPr>
            </a:pPr>
            <a:r>
              <a:t>단일 파이프라인 · zero-dep</a:t>
            </a:r>
          </a:p>
        </p:txBody>
      </p:sp>
      <p:sp>
        <p:nvSpPr>
          <p:cNvPr id="8" name="Rectangle 7"/>
          <p:cNvSpPr/>
          <p:nvPr/>
        </p:nvSpPr>
        <p:spPr>
          <a:xfrm>
            <a:off x="6694444" y="1666666"/>
            <a:ext cx="5972222" cy="361111"/>
          </a:xfrm>
          <a:prstGeom prst="rect">
            <a:avLst/>
          </a:prstGeom>
          <a:solidFill>
            <a:srgbClr val="0E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61110" y="1722222"/>
            <a:ext cx="3055555" cy="24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JetBrains Mono"/>
              </a:defRPr>
            </a:pPr>
            <a:r>
              <a:t>claude-auto-context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9999" y="1736111"/>
            <a:ext cx="2499999" cy="24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JetBrains Mono"/>
              </a:defRPr>
            </a:pPr>
            <a:r>
              <a:t>Two-Speed · 구조 치료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666" y="2138888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94444" y="2138888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777" y="2180555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저장소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777" y="2361111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*.json / .jsonl 파일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5555" y="2180555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저장소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5555" y="2361111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SQLite (raw_events · sessions · insights)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666" y="2861111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94444" y="2861111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777" y="2902777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아키텍처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777" y="3083333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Hook + Stop agent + SessionStart</a:t>
            </a:r>
            <a:br/>
            <a:r>
              <a:t>스크립트가 직접 처리</a:t>
            </a:r>
            <a:br/>
            <a:r>
              <a:t>(단일 파이프라인)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5555" y="2902777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아키텍처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5555" y="3083333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Hook은 수집만, Worker가 polling 분석</a:t>
            </a:r>
            <a:br/>
            <a:r>
              <a:t>(Two-Speed — 빠른 수집 / 느린 분석)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666" y="3583333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94444" y="3583333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777" y="3624999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수집 신호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777" y="3805555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Write / Edit / Bash 실패</a:t>
            </a:r>
            <a:br/>
            <a:r>
              <a:t>+ 명시 피드백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5555" y="3624999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수집 신호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5555" y="3805555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Glob · Grep · Read · Edit · Bash</a:t>
            </a:r>
            <a:br/>
            <a:r>
              <a:t>5차원 정량화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666" y="4305555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94444" y="4305555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777" y="4347222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핵심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777" y="4527777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컨벤션 / 안티패턴 학습 후</a:t>
            </a:r>
            <a:br/>
            <a:r>
              <a:t>CLAUDE.md + rules 재생성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5555" y="4347222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핵심 목표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5555" y="4527777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프로젝트 구조 자체 개선</a:t>
            </a:r>
            <a:br/>
            <a:r>
              <a:t>(offers → /cac-apply)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6666" y="5027777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94444" y="5027777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777" y="5069444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승인 경계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777" y="5249999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/ac-review 승인 게이트</a:t>
            </a:r>
            <a:br/>
            <a:r>
              <a:t>명시 피드백은 즉시 active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5555" y="5069444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승인 경계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5555" y="5249999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구조 변경만 /cac-apply 승인</a:t>
            </a:r>
            <a:br/>
            <a:r>
              <a:t>rules · CLAUDE.md는 자동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6666" y="5749999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94444" y="5749999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777" y="5791666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출력물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777" y="5972222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CLAUDE.md 마커 구간</a:t>
            </a:r>
            <a:br/>
            <a:r>
              <a:t>+ auto-context-*.md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5555" y="5791666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출력물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05555" y="5972222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.claude/rules/ 자동 생성</a:t>
            </a:r>
            <a:br/>
            <a:r>
              <a:t>+ offers/ 구조 제안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6666" y="6472222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94444" y="6472222"/>
            <a:ext cx="5972222" cy="666666"/>
          </a:xfrm>
          <a:prstGeom prst="rect">
            <a:avLst/>
          </a:prstGeom>
          <a:solidFill>
            <a:srgbClr val="121A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777" y="6513888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런타임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777" y="6694444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Bash + jq + JSON</a:t>
            </a:r>
            <a:br/>
            <a:r>
              <a:t>zero-dependency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5555" y="6513888"/>
            <a:ext cx="1249999" cy="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JetBrains Mono"/>
              </a:defRPr>
            </a:pPr>
            <a:r>
              <a:t>런타임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5555" y="6694444"/>
            <a:ext cx="5694444" cy="40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9B6CF"/>
                </a:solidFill>
                <a:latin typeface="Pretendard"/>
              </a:defRPr>
            </a:pPr>
            <a:r>
              <a:t>Node.js collector + SQLite</a:t>
            </a:r>
            <a:br/>
            <a:r>
              <a:t>+ background Claude worker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6666" y="7083333"/>
            <a:ext cx="11999999" cy="305555"/>
          </a:xfrm>
          <a:prstGeom prst="rect">
            <a:avLst/>
          </a:prstGeom>
          <a:solidFill>
            <a:srgbClr val="0F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333" y="7124999"/>
            <a:ext cx="11666666" cy="22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  <a:latin typeface="Pretendard SemiBold"/>
              </a:defRPr>
            </a:pPr>
            <a:r>
              <a:t>auto-context: 문서를 더 잘 쓰자   →   claude-auto-context: 문서가 필요 없게 구조를 고치자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